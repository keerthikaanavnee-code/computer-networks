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2" r:id="rId1"/>
  </p:sldMasterIdLst>
  <p:sldIdLst>
    <p:sldId id="258" r:id="rId2"/>
    <p:sldId id="257" r:id="rId3"/>
    <p:sldId id="259" r:id="rId4"/>
    <p:sldId id="263" r:id="rId5"/>
    <p:sldId id="260" r:id="rId6"/>
    <p:sldId id="262" r:id="rId7"/>
    <p:sldId id="264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91" d="100"/>
          <a:sy n="91" d="100"/>
        </p:scale>
        <p:origin x="1210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/>
          <p:cNvGrpSpPr/>
          <p:nvPr/>
        </p:nvGrpSpPr>
        <p:grpSpPr>
          <a:xfrm>
            <a:off x="0" y="0"/>
            <a:ext cx="9144677" cy="6858000"/>
            <a:chOff x="0" y="0"/>
            <a:chExt cx="9144677" cy="6858000"/>
          </a:xfrm>
        </p:grpSpPr>
        <p:pic>
          <p:nvPicPr>
            <p:cNvPr id="8" name="Picture 7" descr="SD-PanelTitle-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11" name="Rectangle 10"/>
            <p:cNvSpPr/>
            <p:nvPr/>
          </p:nvSpPr>
          <p:spPr>
            <a:xfrm>
              <a:off x="1515532" y="1520422"/>
              <a:ext cx="6112935" cy="3818468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2" name="Picture 11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0" y="3128434"/>
              <a:ext cx="1664208" cy="612648"/>
            </a:xfrm>
            <a:prstGeom prst="rect">
              <a:avLst/>
            </a:prstGeom>
          </p:spPr>
        </p:pic>
        <p:pic>
          <p:nvPicPr>
            <p:cNvPr id="13" name="Picture 12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2" r="47959"/>
            <a:stretch/>
          </p:blipFill>
          <p:spPr>
            <a:xfrm>
              <a:off x="7480469" y="3128434"/>
              <a:ext cx="1664208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21934" y="1811863"/>
            <a:ext cx="5308866" cy="1515533"/>
          </a:xfrm>
        </p:spPr>
        <p:txBody>
          <a:bodyPr anchor="b">
            <a:noAutofit/>
          </a:bodyPr>
          <a:lstStyle>
            <a:lvl1pPr algn="ct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21934" y="3598327"/>
            <a:ext cx="5308866" cy="1377651"/>
          </a:xfrm>
        </p:spPr>
        <p:txBody>
          <a:bodyPr anchor="t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065417" y="5054602"/>
            <a:ext cx="673276" cy="279400"/>
          </a:xfrm>
        </p:spPr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921934" y="5054602"/>
            <a:ext cx="4064860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817317" y="5054602"/>
            <a:ext cx="413483" cy="279400"/>
          </a:xfrm>
        </p:spPr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019825" y="3471329"/>
            <a:ext cx="511308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541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89143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78465" y="1641413"/>
            <a:ext cx="6595534" cy="1822514"/>
          </a:xfrm>
        </p:spPr>
        <p:txBody>
          <a:bodyPr anchor="b">
            <a:normAutofit/>
          </a:bodyPr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78465" y="3734859"/>
            <a:ext cx="6595534" cy="1090015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278466" y="3599392"/>
            <a:ext cx="6595533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57886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278465" y="235626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6866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5152" y="2487168"/>
            <a:ext cx="3337560" cy="3447288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1003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6868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1832" y="2658533"/>
            <a:ext cx="333756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1832" y="3243263"/>
            <a:ext cx="3337560" cy="270662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41" name="Straight Connector 40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268458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15337"/>
            <a:ext cx="6798735" cy="13038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580678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3774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388534"/>
            <a:ext cx="2536798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20062" y="982132"/>
            <a:ext cx="3855539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031065"/>
            <a:ext cx="2536798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278466" y="2912533"/>
            <a:ext cx="233359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988322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1883832"/>
            <a:ext cx="3632202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069" y="1032933"/>
            <a:ext cx="2929463" cy="4792136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5" y="3255432"/>
            <a:ext cx="3632201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77554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4815415"/>
            <a:ext cx="6798734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26260" y="1032933"/>
            <a:ext cx="7091482" cy="33612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6866" y="5382153"/>
            <a:ext cx="6798734" cy="49371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531919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6" y="906873"/>
            <a:ext cx="6798734" cy="309786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275666"/>
            <a:ext cx="6798736" cy="1600202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5" y="4140199"/>
            <a:ext cx="6606425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5899755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4333" y="982132"/>
            <a:ext cx="6400250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00200" y="3352799"/>
            <a:ext cx="5892798" cy="651933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3" y="4343400"/>
            <a:ext cx="6798738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49969" y="905362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72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33503" y="2827870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72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278466" y="4140199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478176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9" y="3308581"/>
            <a:ext cx="679872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8" y="4777381"/>
            <a:ext cx="679873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64729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09416" y="982132"/>
            <a:ext cx="632516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8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639312"/>
            <a:ext cx="6798730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4529667"/>
            <a:ext cx="6798736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78060" y="896895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49796" y="260772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278466" y="3429000"/>
            <a:ext cx="659553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4572994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6865" y="982131"/>
            <a:ext cx="6798734" cy="2294467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sz="3200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2"/>
          <p:cNvSpPr>
            <a:spLocks noGrp="1"/>
          </p:cNvSpPr>
          <p:nvPr>
            <p:ph type="body" idx="13"/>
          </p:nvPr>
        </p:nvSpPr>
        <p:spPr>
          <a:xfrm>
            <a:off x="1176868" y="3566160"/>
            <a:ext cx="6798730" cy="905256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6" y="4470400"/>
            <a:ext cx="6798734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600">
                <a:solidFill>
                  <a:schemeClr val="tx1"/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278469" y="3429000"/>
            <a:ext cx="6606421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7314036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5" y="2490135"/>
            <a:ext cx="6798736" cy="338573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278466" y="2354670"/>
            <a:ext cx="6606424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60384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356667" y="906873"/>
            <a:ext cx="1618930" cy="496899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6867" y="906873"/>
            <a:ext cx="4915509" cy="496899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6245512" y="906873"/>
            <a:ext cx="0" cy="4968993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04264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9152467" cy="6858000"/>
            <a:chOff x="0" y="0"/>
            <a:chExt cx="9152467" cy="6858000"/>
          </a:xfrm>
        </p:grpSpPr>
        <p:pic>
          <p:nvPicPr>
            <p:cNvPr id="8" name="Picture 7" descr="S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9144000" cy="6858000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553888" y="542807"/>
              <a:ext cx="8039776" cy="5756392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0" y="3128434"/>
              <a:ext cx="68580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" r="14240"/>
            <a:stretch/>
          </p:blipFill>
          <p:spPr>
            <a:xfrm>
              <a:off x="8466667" y="3128434"/>
              <a:ext cx="68580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6866" y="915337"/>
            <a:ext cx="6798734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6865" y="2490135"/>
            <a:ext cx="6798736" cy="34449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356670" y="5960533"/>
            <a:ext cx="1148283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C0BDF8EB-A91D-45DC-A6BB-C079712E3F0B}" type="datetimeFigureOut">
              <a:rPr lang="en-US" smtClean="0"/>
              <a:pPr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76865" y="5960533"/>
            <a:ext cx="510466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580091" y="5960533"/>
            <a:ext cx="39551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53D7DF21-555E-4506-B5BA-53215DB17031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2904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  <p:sldLayoutId id="2147483719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C212B631-1DD8-889B-451D-8057EAFEE4E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7158" y="692696"/>
            <a:ext cx="8429684" cy="1103235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42910" y="2000240"/>
            <a:ext cx="78581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defRPr sz="2600" b="1"/>
            </a:pPr>
            <a:r>
              <a:t>Understanding Cloud Networking Using the OSI Model</a:t>
            </a:r>
          </a:p>
        </p:txBody>
      </p:sp>
      <p:sp>
        <p:nvSpPr>
          <p:cNvPr id="4" name="Rectangle 3"/>
          <p:cNvSpPr/>
          <p:nvPr/>
        </p:nvSpPr>
        <p:spPr>
          <a:xfrm>
            <a:off x="928662" y="3214686"/>
            <a:ext cx="6786610" cy="40011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defRPr sz="2000"/>
            </a:pPr>
            <a:r>
              <a:t>Course Code: CSA0704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2000"/>
            </a:pPr>
            <a:r>
              <a:t>Name: Keerthikaa N</a:t>
            </a:r>
          </a:p>
          <a:p>
            <a:pPr algn="ctr">
              <a:defRPr sz="2000"/>
            </a:pPr>
            <a:r>
              <a:t>Register Number: 192521064</a:t>
            </a:r>
          </a:p>
        </p:txBody>
      </p:sp>
      <p:sp>
        <p:nvSpPr>
          <p:cNvPr id="5" name="Rectangle 4"/>
          <p:cNvSpPr/>
          <p:nvPr/>
        </p:nvSpPr>
        <p:spPr>
          <a:xfrm>
            <a:off x="857224" y="4714884"/>
            <a:ext cx="4572000" cy="984885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t>Course Code : CSA0704</a:t>
            </a:r>
          </a:p>
          <a:p>
            <a:r>
              <a:t>Name : Keerthikaa N</a:t>
            </a:r>
          </a:p>
          <a:p>
            <a:r>
              <a:t>Register Number : 192521064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035951" y="692696"/>
            <a:ext cx="5072098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Cloud Networking Through the OSI Architecture</a:t>
            </a:r>
          </a:p>
          <a:p>
            <a:pPr algn="ctr"/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714488"/>
            <a:ext cx="8001056" cy="50167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combines cloud computing and networking.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enables users to access applications, storage, and services over the Internet.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The OSI model explains how data travels between users and cloud servers.</a:t>
            </a:r>
          </a:p>
          <a:p>
            <a:pPr marL="342900" indent="-342900" algn="just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ensures secure, reliable, and efficient communication.</a:t>
            </a:r>
          </a:p>
          <a:p>
            <a:pPr>
              <a:lnSpc>
                <a:spcPct val="200000"/>
              </a:lnSpc>
            </a:pPr>
            <a:br>
              <a:rPr lang="en-US" sz="2000" dirty="0">
                <a:latin typeface="Times New Roman" pitchFamily="18" charset="0"/>
                <a:cs typeface="Times New Roman" pitchFamily="18" charset="0"/>
              </a:rPr>
            </a:b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857356" y="705624"/>
            <a:ext cx="542928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latin typeface="Times New Roman" pitchFamily="18" charset="0"/>
                <a:cs typeface="Times New Roman" pitchFamily="18" charset="0"/>
              </a:rPr>
              <a:t>What is Cloud Networking?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571472" y="1643050"/>
            <a:ext cx="8001056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uses cloud-based infrastructure for communication.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Data and applications are stored on remote servers.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Users can access services from anywhere with an Internet connection.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It supports scalability, flexibility, and cost savings.</a:t>
            </a:r>
          </a:p>
          <a:p>
            <a:pPr>
              <a:lnSpc>
                <a:spcPct val="200000"/>
              </a:lnSpc>
              <a:buFont typeface="Wingdings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Examples: Google Drive, AWS, Microsoft Azure, </a:t>
            </a:r>
            <a:r>
              <a:rPr lang="en-US" sz="2000" dirty="0" err="1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785786" y="1714489"/>
            <a:ext cx="7715304" cy="53860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Application: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User accesses cloud services.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Presentation: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Data is encrypted and compressed.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Session: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Starts and maintains the communication session.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Transport: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Ensures reliable data transfer.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Network: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Finds the path using IP addresses.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Data Link: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Converts packets into frames and checks for errors.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b="1" dirty="0">
                <a:latin typeface="Times New Roman" pitchFamily="18" charset="0"/>
                <a:cs typeface="Times New Roman" pitchFamily="18" charset="0"/>
              </a:rPr>
              <a:t> Physical:</a:t>
            </a: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 Sends the data as bits through cables or Wi-Fi.</a:t>
            </a:r>
          </a:p>
          <a:p>
            <a:pPr algn="ctr">
              <a:lnSpc>
                <a:spcPct val="200000"/>
              </a:lnSpc>
            </a:pPr>
            <a:endParaRPr lang="en-US" sz="32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2285984" y="857232"/>
            <a:ext cx="454643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OSI Layers in Cloud Networking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78761" y="620688"/>
            <a:ext cx="5857916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latin typeface="Times New Roman" pitchFamily="18" charset="0"/>
                <a:cs typeface="Times New Roman" pitchFamily="18" charset="0"/>
              </a:rPr>
              <a:t>Applications of Cloud Networking</a:t>
            </a:r>
          </a:p>
          <a:p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358246" cy="60115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Cloud Storage: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Stores and shares files online using services like Google Drive and </a:t>
            </a:r>
            <a:r>
              <a:rPr lang="en-US" dirty="0" err="1">
                <a:latin typeface="Times New Roman" pitchFamily="18" charset="0"/>
                <a:cs typeface="Times New Roman" pitchFamily="18" charset="0"/>
              </a:rPr>
              <a:t>OneDrive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Video Streaming: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Delivers movies and videos through platforms such as YouTube and Netflix.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Online Learning: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Supports virtual classes and e-learning platforms like Google Classroom.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Business Collaboration: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Enables teams to communicate and work together using Microsoft Teams and Google Workspace.</a:t>
            </a:r>
          </a:p>
          <a:p>
            <a:pPr marL="285750" indent="-28575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b="1" dirty="0">
                <a:latin typeface="Times New Roman" pitchFamily="18" charset="0"/>
                <a:cs typeface="Times New Roman" pitchFamily="18" charset="0"/>
              </a:rPr>
              <a:t> Cloud Gaming:</a:t>
            </a:r>
            <a:r>
              <a:rPr lang="en-US" dirty="0">
                <a:latin typeface="Times New Roman" pitchFamily="18" charset="0"/>
                <a:cs typeface="Times New Roman" pitchFamily="18" charset="0"/>
              </a:rPr>
              <a:t> Allows users to play games online without requiring powerful hardware.</a:t>
            </a:r>
          </a:p>
          <a:p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5776" y="620688"/>
            <a:ext cx="421484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2800" b="1" dirty="0">
                <a:latin typeface="Times New Roman" pitchFamily="18" charset="0"/>
                <a:cs typeface="Times New Roman" pitchFamily="18" charset="0"/>
              </a:rPr>
              <a:t>CONCLUSION</a:t>
            </a:r>
            <a:endParaRPr lang="en-US" sz="28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428596" y="1000108"/>
            <a:ext cx="8286808" cy="563231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 Cloud networking enables secure and efficient communication over the Internet.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The OSI model divides communication into seven layers, each performing a specific function.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Together, these layers ensure reliable data transmission, error detection, and secure communication.</a:t>
            </a:r>
          </a:p>
          <a:p>
            <a:pPr marL="342900" indent="-342900">
              <a:lnSpc>
                <a:spcPct val="200000"/>
              </a:lnSpc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itchFamily="18" charset="0"/>
                <a:cs typeface="Times New Roman" pitchFamily="18" charset="0"/>
              </a:rPr>
              <a:t>Cloud networking supports modern services such as cloud storage, online learning, video streaming, and business collaboration.</a:t>
            </a:r>
          </a:p>
          <a:p>
            <a:pPr algn="just">
              <a:lnSpc>
                <a:spcPct val="200000"/>
              </a:lnSpc>
            </a:pPr>
            <a:endParaRPr lang="en-US" sz="2000" dirty="0">
              <a:latin typeface="Times New Roman" pitchFamily="18" charset="0"/>
              <a:cs typeface="Times New Roman" pitchFamily="18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6F2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643042" y="2357430"/>
            <a:ext cx="6572296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6600" dirty="0">
                <a:latin typeface="Arial Black" pitchFamily="34" charset="0"/>
              </a:rPr>
              <a:t>THANK YOU</a:t>
            </a:r>
            <a:endParaRPr lang="en-US" sz="6600" dirty="0">
              <a:latin typeface="Arial Black" pitchFamily="34" charset="0"/>
            </a:endParaRP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rnd" cmpd="sng" algn="ctr">
          <a:solidFill>
            <a:schemeClr val="phClr"/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TM02900743[[fn=Organic]]</Template>
  <TotalTime>86</TotalTime>
  <Words>374</Words>
  <Application>Microsoft Office PowerPoint</Application>
  <PresentationFormat>On-screen Show (4:3)</PresentationFormat>
  <Paragraphs>39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Arial Black</vt:lpstr>
      <vt:lpstr>Garamond</vt:lpstr>
      <vt:lpstr>Times New Roman</vt:lpstr>
      <vt:lpstr>Wingdings</vt:lpstr>
      <vt:lpstr>Organic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Windows User</dc:creator>
  <cp:lastModifiedBy>Rithika Parthiban</cp:lastModifiedBy>
  <cp:revision>8</cp:revision>
  <dcterms:created xsi:type="dcterms:W3CDTF">2026-06-03T06:32:44Z</dcterms:created>
  <dcterms:modified xsi:type="dcterms:W3CDTF">2026-07-15T09:04:06Z</dcterms:modified>
</cp:coreProperties>
</file>